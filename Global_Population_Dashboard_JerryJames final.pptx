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4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5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76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0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100" b="0" i="0" u="none" strike="noStrike" dirty="0">
                <a:solidFill>
                  <a:srgbClr val="1E293B"/>
                </a:solidFill>
                <a:latin typeface="Arial"/>
              </a:rPr>
              <a:t>Population Growth 1970–2022 (billions)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Growth (Billions)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3D8-4923-93F4-63D89E43AE96}"/>
              </c:ext>
            </c:extLst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3D8-4923-93F4-63D89E43AE96}"/>
              </c:ext>
            </c:extLst>
          </c:dPt>
          <c:dPt>
            <c:idx val="2"/>
            <c:invertIfNegative val="0"/>
            <c:bubble3D val="0"/>
            <c:spPr>
              <a:solidFill>
                <a:srgbClr val="2DD4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3D8-4923-93F4-63D89E43AE96}"/>
              </c:ext>
            </c:extLst>
          </c:dPt>
          <c:dPt>
            <c:idx val="3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3D8-4923-93F4-63D89E43AE96}"/>
              </c:ext>
            </c:extLst>
          </c:dPt>
          <c:dPt>
            <c:idx val="4"/>
            <c:invertIfNegative val="0"/>
            <c:bubble3D val="0"/>
            <c:spPr>
              <a:solidFill>
                <a:srgbClr val="99F6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3D8-4923-93F4-63D89E43AE96}"/>
              </c:ext>
            </c:extLst>
          </c:dPt>
          <c:dPt>
            <c:idx val="5"/>
            <c:invertIfNegative val="0"/>
            <c:bubble3D val="0"/>
            <c:spPr>
              <a:solidFill>
                <a:srgbClr val="CCFB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3D8-4923-93F4-63D89E43AE9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India</c:v>
                </c:pt>
                <c:pt idx="1">
                  <c:v>China</c:v>
                </c:pt>
                <c:pt idx="2">
                  <c:v>Nigeria</c:v>
                </c:pt>
                <c:pt idx="3">
                  <c:v>Pakistan</c:v>
                </c:pt>
                <c:pt idx="4">
                  <c:v>Indonesia</c:v>
                </c:pt>
                <c:pt idx="5">
                  <c:v>Brazil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0.95</c:v>
                </c:pt>
                <c:pt idx="1">
                  <c:v>0.76</c:v>
                </c:pt>
                <c:pt idx="2">
                  <c:v>0.17</c:v>
                </c:pt>
                <c:pt idx="3">
                  <c:v>0.16</c:v>
                </c:pt>
                <c:pt idx="4">
                  <c:v>0.14000000000000001</c:v>
                </c:pt>
                <c:pt idx="5">
                  <c:v>0.13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3D8-4923-93F4-63D89E43AE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E293B"/>
                </a:solidFill>
                <a:latin typeface="Arial"/>
              </a:rPr>
              <a:t>Population by Continent (billions)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Asia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1970</c:v>
                </c:pt>
                <c:pt idx="1">
                  <c:v>1990</c:v>
                </c:pt>
                <c:pt idx="2">
                  <c:v>2010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2.1</c:v>
                </c:pt>
                <c:pt idx="1">
                  <c:v>3.1</c:v>
                </c:pt>
                <c:pt idx="2">
                  <c:v>4.0999999999999996</c:v>
                </c:pt>
                <c:pt idx="3">
                  <c:v>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6B-462C-9DF0-0F6D5382456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Africa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1970</c:v>
                </c:pt>
                <c:pt idx="1">
                  <c:v>1990</c:v>
                </c:pt>
                <c:pt idx="2">
                  <c:v>2010</c:v>
                </c:pt>
                <c:pt idx="3">
                  <c:v>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</c:v>
                </c:pt>
                <c:pt idx="1">
                  <c:v>0.6</c:v>
                </c:pt>
                <c:pt idx="2">
                  <c:v>1</c:v>
                </c:pt>
                <c:pt idx="3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C6B-462C-9DF0-0F6D5382456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Americas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1970</c:v>
                </c:pt>
                <c:pt idx="1">
                  <c:v>1990</c:v>
                </c:pt>
                <c:pt idx="2">
                  <c:v>2010</c:v>
                </c:pt>
                <c:pt idx="3">
                  <c:v>2025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0.5</c:v>
                </c:pt>
                <c:pt idx="1">
                  <c:v>0.7</c:v>
                </c:pt>
                <c:pt idx="2">
                  <c:v>0.9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C6B-462C-9DF0-0F6D5382456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Europe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1970</c:v>
                </c:pt>
                <c:pt idx="1">
                  <c:v>1990</c:v>
                </c:pt>
                <c:pt idx="2">
                  <c:v>2010</c:v>
                </c:pt>
                <c:pt idx="3">
                  <c:v>2025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0.6</c:v>
                </c:pt>
                <c:pt idx="1">
                  <c:v>0.7</c:v>
                </c:pt>
                <c:pt idx="2">
                  <c:v>0.7</c:v>
                </c:pt>
                <c:pt idx="3">
                  <c:v>0.75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C6B-462C-9DF0-0F6D538245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E293B"/>
                </a:solidFill>
                <a:latin typeface="Arial"/>
              </a:rPr>
              <a:t>Population Density (persons per km²)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Density (per km²)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028-4C15-860C-8BAA2D1C2C0E}"/>
              </c:ext>
            </c:extLst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028-4C15-860C-8BAA2D1C2C0E}"/>
              </c:ext>
            </c:extLst>
          </c:dPt>
          <c:dPt>
            <c:idx val="2"/>
            <c:invertIfNegative val="0"/>
            <c:bubble3D val="0"/>
            <c:spPr>
              <a:solidFill>
                <a:srgbClr val="2DD4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028-4C15-860C-8BAA2D1C2C0E}"/>
              </c:ext>
            </c:extLst>
          </c:dPt>
          <c:dPt>
            <c:idx val="3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028-4C15-860C-8BAA2D1C2C0E}"/>
              </c:ext>
            </c:extLst>
          </c:dPt>
          <c:dPt>
            <c:idx val="4"/>
            <c:invertIfNegative val="0"/>
            <c:bubble3D val="0"/>
            <c:spPr>
              <a:solidFill>
                <a:srgbClr val="99F6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028-4C15-860C-8BAA2D1C2C0E}"/>
              </c:ext>
            </c:extLst>
          </c:dPt>
          <c:dPt>
            <c:idx val="5"/>
            <c:invertIfNegative val="0"/>
            <c:bubble3D val="0"/>
            <c:spPr>
              <a:solidFill>
                <a:srgbClr val="CCFB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028-4C15-860C-8BAA2D1C2C0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Bangladesh</c:v>
                </c:pt>
                <c:pt idx="1">
                  <c:v>Singapore</c:v>
                </c:pt>
                <c:pt idx="2">
                  <c:v>South Korea</c:v>
                </c:pt>
                <c:pt idx="3">
                  <c:v>Netherlands</c:v>
                </c:pt>
                <c:pt idx="4">
                  <c:v>India</c:v>
                </c:pt>
                <c:pt idx="5">
                  <c:v>China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1265</c:v>
                </c:pt>
                <c:pt idx="1">
                  <c:v>8000</c:v>
                </c:pt>
                <c:pt idx="2">
                  <c:v>527</c:v>
                </c:pt>
                <c:pt idx="3">
                  <c:v>508</c:v>
                </c:pt>
                <c:pt idx="4">
                  <c:v>464</c:v>
                </c:pt>
                <c:pt idx="5">
                  <c:v>148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028-4C15-860C-8BAA2D1C2C0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E293B"/>
                </a:solidFill>
                <a:latin typeface="Arial"/>
              </a:rPr>
              <a:t>Share of Future Population Growth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EC1-4700-9F1D-E429A5C0F4DF}"/>
              </c:ext>
            </c:extLst>
          </c:dPt>
          <c:dPt>
            <c:idx val="1"/>
            <c:bubble3D val="0"/>
            <c:spPr>
              <a:solidFill>
                <a:srgbClr val="0EA5E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EC1-4700-9F1D-E429A5C0F4DF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EC1-4700-9F1D-E429A5C0F4DF}"/>
              </c:ext>
            </c:extLst>
          </c:dPt>
          <c:dPt>
            <c:idx val="3"/>
            <c:bubble3D val="0"/>
            <c:spPr>
              <a:solidFill>
                <a:srgbClr val="636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EC1-4700-9F1D-E429A5C0F4DF}"/>
              </c:ext>
            </c:extLst>
          </c:dPt>
          <c:dPt>
            <c:idx val="4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EC1-4700-9F1D-E429A5C0F4D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EC1-4700-9F1D-E429A5C0F4D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EC1-4700-9F1D-E429A5C0F4DF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EC1-4700-9F1D-E429A5C0F4DF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EC1-4700-9F1D-E429A5C0F4DF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EC1-4700-9F1D-E429A5C0F4D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India</c:v>
                </c:pt>
                <c:pt idx="1">
                  <c:v>China</c:v>
                </c:pt>
                <c:pt idx="2">
                  <c:v>Nigeria</c:v>
                </c:pt>
                <c:pt idx="3">
                  <c:v>Pakistan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</c:v>
                </c:pt>
                <c:pt idx="1">
                  <c:v>22</c:v>
                </c:pt>
                <c:pt idx="2">
                  <c:v>12</c:v>
                </c:pt>
                <c:pt idx="3">
                  <c:v>10</c:v>
                </c:pt>
                <c:pt idx="4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EC1-4700-9F1D-E429A5C0F4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E293B"/>
                </a:solidFill>
                <a:latin typeface="Arial"/>
              </a:rPr>
              <a:t>Population Growth: Developed vs. Developing (billions)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Developing</c:v>
                </c:pt>
              </c:strCache>
            </c:strRef>
          </c:tx>
          <c:spPr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1970</c:v>
                </c:pt>
                <c:pt idx="1">
                  <c:v>1980</c:v>
                </c:pt>
                <c:pt idx="2">
                  <c:v>1990</c:v>
                </c:pt>
                <c:pt idx="3">
                  <c:v>2000</c:v>
                </c:pt>
                <c:pt idx="4">
                  <c:v>2010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2.8</c:v>
                </c:pt>
                <c:pt idx="1">
                  <c:v>3.4</c:v>
                </c:pt>
                <c:pt idx="2">
                  <c:v>4.0999999999999996</c:v>
                </c:pt>
                <c:pt idx="3">
                  <c:v>5</c:v>
                </c:pt>
                <c:pt idx="4">
                  <c:v>5.8</c:v>
                </c:pt>
                <c:pt idx="5">
                  <c:v>6.7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FC0-492F-9A36-DE0FAF4D070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Developed</c:v>
                </c:pt>
              </c:strCache>
            </c:strRef>
          </c:tx>
          <c:spPr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1970</c:v>
                </c:pt>
                <c:pt idx="1">
                  <c:v>1980</c:v>
                </c:pt>
                <c:pt idx="2">
                  <c:v>1990</c:v>
                </c:pt>
                <c:pt idx="3">
                  <c:v>2000</c:v>
                </c:pt>
                <c:pt idx="4">
                  <c:v>2010</c:v>
                </c:pt>
                <c:pt idx="5">
                  <c:v>2025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1.1000000000000001</c:v>
                </c:pt>
                <c:pt idx="2">
                  <c:v>1.1000000000000001</c:v>
                </c:pt>
                <c:pt idx="3">
                  <c:v>1.1499999999999999</c:v>
                </c:pt>
                <c:pt idx="4">
                  <c:v>1.17</c:v>
                </c:pt>
                <c:pt idx="5">
                  <c:v>1.2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CFC0-492F-9A36-DE0FAF4D07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9957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327155"/>
            <a:ext cx="7080026" cy="1371601"/>
          </a:xfrm>
        </p:spPr>
        <p:txBody>
          <a:bodyPr anchor="b">
            <a:normAutofit/>
          </a:bodyPr>
          <a:lstStyle>
            <a:lvl1pPr algn="ctr"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2698755"/>
            <a:ext cx="7080026" cy="787400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69483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4923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320801"/>
            <a:ext cx="7192913" cy="1371610"/>
          </a:xfrm>
        </p:spPr>
        <p:txBody>
          <a:bodyPr anchor="b"/>
          <a:lstStyle>
            <a:lvl1pPr algn="ctr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2692409"/>
            <a:ext cx="7192913" cy="1130291"/>
          </a:xfrm>
        </p:spPr>
        <p:txBody>
          <a:bodyPr anchor="t"/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8592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299337"/>
            <a:ext cx="3795373" cy="304406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299337"/>
            <a:ext cx="3798499" cy="304406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95799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6" y="1300880"/>
            <a:ext cx="3816804" cy="3111577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3864" y="1300880"/>
            <a:ext cx="3816804" cy="311157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376441"/>
            <a:ext cx="3657258" cy="408663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1785103"/>
            <a:ext cx="3657258" cy="25582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376441"/>
            <a:ext cx="3671498" cy="408662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1785103"/>
            <a:ext cx="3671498" cy="25582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63181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841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99989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457200"/>
            <a:ext cx="2780167" cy="1366439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457200"/>
            <a:ext cx="4808943" cy="38862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1823639"/>
            <a:ext cx="2780167" cy="251976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06065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249" y="457200"/>
            <a:ext cx="2688125" cy="390362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457442"/>
            <a:ext cx="4451212" cy="1372004"/>
          </a:xfrm>
        </p:spPr>
        <p:txBody>
          <a:bodyPr anchor="b">
            <a:no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81914" y="572776"/>
            <a:ext cx="2456813" cy="3684617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1829445"/>
            <a:ext cx="4451212" cy="253210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24999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13" y="410855"/>
            <a:ext cx="7606349" cy="28626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3423941"/>
            <a:ext cx="7766495" cy="407604"/>
          </a:xfrm>
        </p:spPr>
        <p:txBody>
          <a:bodyPr anchor="b">
            <a:normAutofit/>
          </a:bodyPr>
          <a:lstStyle>
            <a:lvl1pPr algn="ctr">
              <a:defRPr sz="2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77012" y="521257"/>
            <a:ext cx="7384010" cy="2644253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831546"/>
            <a:ext cx="7765322" cy="511854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40240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56328"/>
            <a:ext cx="7765322" cy="265075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221385"/>
            <a:ext cx="7765322" cy="1126370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38482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24467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707524"/>
            <a:ext cx="6564224" cy="399562"/>
          </a:xfrm>
        </p:spPr>
        <p:txBody>
          <a:bodyPr anchor="t">
            <a:normAutofit/>
          </a:bodyPr>
          <a:lstStyle>
            <a:lvl1pPr marL="0" indent="0" algn="r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228265"/>
            <a:ext cx="7765322" cy="111712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42950" y="66359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8537" y="219619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3312699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1595207"/>
            <a:ext cx="7765322" cy="1883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3487917"/>
            <a:ext cx="7764149" cy="855483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29490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414462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1928812"/>
            <a:ext cx="2475738" cy="241458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414462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1928812"/>
            <a:ext cx="2475738" cy="241458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414462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1928812"/>
            <a:ext cx="2475738" cy="241458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84210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72" y="1363661"/>
            <a:ext cx="2504979" cy="1385888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850" y="1363661"/>
            <a:ext cx="2504979" cy="1385888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038" y="1363661"/>
            <a:ext cx="2504979" cy="138588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2928079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454188"/>
            <a:ext cx="2319276" cy="1202216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3360276"/>
            <a:ext cx="2475738" cy="983125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2928079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454321"/>
            <a:ext cx="2319276" cy="1206123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6" y="3360276"/>
            <a:ext cx="2475738" cy="983125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2928079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450824"/>
            <a:ext cx="2319276" cy="1205471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3360274"/>
            <a:ext cx="2475738" cy="983126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50214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07773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457200"/>
            <a:ext cx="1713365" cy="38862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457200"/>
            <a:ext cx="5937654" cy="38862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54238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0481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299337"/>
            <a:ext cx="7765322" cy="304406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36636D-D922-432D-A958-524484B5923D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904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hf sldNum="0" hdr="0" ftr="0" dt="0"/>
  <p:txStyles>
    <p:titleStyle>
      <a:lvl1pPr algn="ctr" defTabSz="342900" rtl="0" eaLnBrk="1" latinLnBrk="0" hangingPunct="1">
        <a:spcBef>
          <a:spcPct val="0"/>
        </a:spcBef>
        <a:buNone/>
        <a:defRPr sz="3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295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540000" indent="-2025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"/>
        <a:defRPr sz="13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769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2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039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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255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1510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18013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09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2329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12244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640080"/>
            <a:ext cx="2286000" cy="228600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•  DATA ANALYTICS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Population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Trends  •  Continental Shifts  •  Density Analysis  •  Future Projections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401568"/>
            <a:ext cx="41148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5661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7947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Jerry James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83680" y="411480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41148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 – 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60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73152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9692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4632" y="13167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581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Objective, dataset, and key questions addressed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2194560"/>
            <a:ext cx="4160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94560"/>
            <a:ext cx="73152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22494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4632" y="25968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Information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" y="28620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fields, and coverage details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474720"/>
            <a:ext cx="4160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474720"/>
            <a:ext cx="73152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" y="35295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4632" y="38770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Preparation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" y="41422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BI, Power Query, DAX Calculations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914400"/>
            <a:ext cx="4160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914400"/>
            <a:ext cx="73152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919472" y="9692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19472" y="13167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Analytical Questions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19472" y="1581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insights, and visualizations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194560"/>
            <a:ext cx="4160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194560"/>
            <a:ext cx="73152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919472" y="22494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919472" y="25968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KPIs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19472" y="28620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metrics and final dashboard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474720"/>
            <a:ext cx="4160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474720"/>
            <a:ext cx="73152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4919472" y="35295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919472" y="38770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19472" y="41422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from the analysis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912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This Project?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dashboard analyzes population trends across countries and continents from 1970 to 2025, delivering key demographic insights through interactive Power BI visuals.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2103120"/>
            <a:ext cx="2697480" cy="2606040"/>
          </a:xfrm>
          <a:prstGeom prst="rect">
            <a:avLst/>
          </a:prstGeom>
          <a:solidFill>
            <a:srgbClr val="12244D"/>
          </a:solidFill>
          <a:ln w="1016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2240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274320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Growth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3127248"/>
            <a:ext cx="2478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country-level and continental population change over 55 years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417320" y="3886200"/>
            <a:ext cx="5029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0" y="2103120"/>
            <a:ext cx="2697480" cy="2606040"/>
          </a:xfrm>
          <a:prstGeom prst="rect">
            <a:avLst/>
          </a:prstGeom>
          <a:solidFill>
            <a:srgbClr val="12244D"/>
          </a:solidFill>
          <a:ln w="1016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2240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00400" y="274320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Density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3127248"/>
            <a:ext cx="2478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high-density nations and the pressures they face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0" y="3886200"/>
            <a:ext cx="5029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Shape 14"/>
          <p:cNvSpPr/>
          <p:nvPr/>
        </p:nvSpPr>
        <p:spPr>
          <a:xfrm>
            <a:off x="6080760" y="2103120"/>
            <a:ext cx="2697480" cy="2606040"/>
          </a:xfrm>
          <a:prstGeom prst="rect">
            <a:avLst/>
          </a:prstGeom>
          <a:solidFill>
            <a:srgbClr val="12244D"/>
          </a:solidFill>
          <a:ln w="1016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80760" y="2240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🔮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080760" y="274320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Future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90488" y="3127248"/>
            <a:ext cx="2478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which nations will drive global population by 2025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78040" y="3886200"/>
            <a:ext cx="502920" cy="36576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INFORMATION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474720" cy="54864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Source: Kaggle World Population Dataset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530352"/>
          </a:xfrm>
          <a:prstGeom prst="rect">
            <a:avLst/>
          </a:prstGeom>
          <a:solidFill>
            <a:srgbClr val="EFF6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00200"/>
            <a:ext cx="54864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733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51760" y="167335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Nation-level records for all continents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21992"/>
            <a:ext cx="841248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221992"/>
            <a:ext cx="54864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29514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229514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6 global regions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43784"/>
            <a:ext cx="8412480" cy="530352"/>
          </a:xfrm>
          <a:prstGeom prst="rect">
            <a:avLst/>
          </a:prstGeom>
          <a:solidFill>
            <a:srgbClr val="EFF6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843784"/>
            <a:ext cx="54864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169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Data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1760" y="291693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Year-wise figures from 1970 to 2025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465576"/>
            <a:ext cx="841248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465576"/>
            <a:ext cx="54864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5387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51760" y="353872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% increase per country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87368"/>
            <a:ext cx="8412480" cy="530352"/>
          </a:xfrm>
          <a:prstGeom prst="rect">
            <a:avLst/>
          </a:prstGeom>
          <a:solidFill>
            <a:srgbClr val="EFF6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4087368"/>
            <a:ext cx="54864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1605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51760" y="416052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per km² land area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4856C3-483A-3FC1-99CE-8F2676634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78" y="1094874"/>
            <a:ext cx="8452186" cy="305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663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912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60520" cy="1645920"/>
          </a:xfrm>
          <a:prstGeom prst="rect">
            <a:avLst/>
          </a:prstGeom>
          <a:solidFill>
            <a:srgbClr val="12244D"/>
          </a:solidFill>
          <a:ln w="889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25880" y="11612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BI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5087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creation and data visualization platform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960120"/>
            <a:ext cx="4160520" cy="1645920"/>
          </a:xfrm>
          <a:prstGeom prst="rect">
            <a:avLst/>
          </a:prstGeom>
          <a:solidFill>
            <a:srgbClr val="12244D"/>
          </a:solidFill>
          <a:ln w="889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1430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760720" y="11612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Kaggle Dataset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760720" y="15087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structured World Population data used for analysis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4160520" cy="1645920"/>
          </a:xfrm>
          <a:prstGeom prst="rect">
            <a:avLst/>
          </a:prstGeom>
          <a:solidFill>
            <a:srgbClr val="12244D"/>
          </a:solidFill>
          <a:ln w="889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30632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325880" y="30815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Query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34290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tool for data transformation, cleaning, and shaping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2880360"/>
            <a:ext cx="4160520" cy="1645920"/>
          </a:xfrm>
          <a:prstGeom prst="rect">
            <a:avLst/>
          </a:prstGeom>
          <a:solidFill>
            <a:srgbClr val="12244D"/>
          </a:solidFill>
          <a:ln w="889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30632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🧮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760720" y="30815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DAX Calculations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760720" y="34290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Expressions for custom KPIs and metrics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22376" y="1371600"/>
            <a:ext cx="18288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914400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144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51560" y="874696"/>
            <a:ext cx="772668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88720" y="941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Import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1197864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Kaggle World Population dataset into Power BI via Power Query connector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22376" y="2176272"/>
            <a:ext cx="18288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" y="1719072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7190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51560" y="1673352"/>
            <a:ext cx="772668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88720" y="17465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200253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Fixed data types, standardized country and continent names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376" y="2980944"/>
            <a:ext cx="18288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Shape 15"/>
          <p:cNvSpPr/>
          <p:nvPr/>
        </p:nvSpPr>
        <p:spPr>
          <a:xfrm>
            <a:off x="411480" y="2523744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5237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51560" y="2478024"/>
            <a:ext cx="772668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188720" y="25511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280720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Unpivoted year columns into rows; created calculated columns for growth metrics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2376" y="3785616"/>
            <a:ext cx="18288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Shape 21"/>
          <p:cNvSpPr/>
          <p:nvPr/>
        </p:nvSpPr>
        <p:spPr>
          <a:xfrm>
            <a:off x="411480" y="3328416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3284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51560" y="3282696"/>
            <a:ext cx="772668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188720" y="3355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88720" y="361188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custom KPIs: Total Population, Growth Rate %, Density per km², YoY Change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4133088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41330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51560" y="4087368"/>
            <a:ext cx="772668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188720" y="4160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88720" y="441655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3 report pages with slicers, filters, charts, and KPI cards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912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 1  OF  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164592" cy="44577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1224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countries experienced the highest population growth from 1970 to 2025?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291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Visualization: Bar Chart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INSIGHTS  —  POPULATION GROWTH BY COUNTRY</a:t>
            </a:r>
            <a:endParaRPr lang="en-US" sz="1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537682249"/>
              </p:ext>
            </p:extLst>
          </p:nvPr>
        </p:nvGraphicFramePr>
        <p:xfrm>
          <a:off x="274320" y="777240"/>
          <a:ext cx="53035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852160" y="8229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852160" y="118872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4"/>
          <p:cNvSpPr/>
          <p:nvPr/>
        </p:nvSpPr>
        <p:spPr>
          <a:xfrm>
            <a:off x="5852160" y="1389888"/>
            <a:ext cx="297180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52160" y="1389888"/>
            <a:ext cx="64008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6035040" y="1463040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&amp; China recorded the largest absolute population gains over 52 years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852160" y="2194560"/>
            <a:ext cx="297180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52160" y="2194560"/>
            <a:ext cx="64008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6035040" y="2267712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nations contributed the majority of global growth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852160" y="2999232"/>
            <a:ext cx="297180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52160" y="2999232"/>
            <a:ext cx="64008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6035040" y="3072384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expansion strains food, water &amp; infrastructure resources</a:t>
            </a:r>
            <a:endParaRPr lang="en-US" sz="9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8676110-DA29-B85F-B6CF-138DABD64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70432"/>
            <a:ext cx="5733288" cy="3776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912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 2  OF  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164592" cy="44577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1224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does population distribution vary across continents over the years?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291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Visualization: Stacked Area Chart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INSIGHTS  —  POPULATION DISTRIBUTION BY CONTINENT</a:t>
            </a:r>
            <a:endParaRPr lang="en-US" sz="1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53035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852160" y="8229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852160" y="118872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4"/>
          <p:cNvSpPr/>
          <p:nvPr/>
        </p:nvSpPr>
        <p:spPr>
          <a:xfrm>
            <a:off x="5852160" y="1389888"/>
            <a:ext cx="297180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52160" y="1389888"/>
            <a:ext cx="64008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6035040" y="1463040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dominates, holding over 60% of the world's population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852160" y="2194560"/>
            <a:ext cx="297180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52160" y="2194560"/>
            <a:ext cx="64008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6035040" y="2267712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shows the fastest upward growth trajectory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852160" y="2999232"/>
            <a:ext cx="297180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52160" y="2999232"/>
            <a:ext cx="64008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6035040" y="3072384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Europe's growth is the slowest among all continents</a:t>
            </a:r>
            <a:endParaRPr lang="en-US" sz="9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B9240FD-6A13-D842-3CB9-96853CDD00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54" y="1127294"/>
            <a:ext cx="5540542" cy="378045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912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 3  OF  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164592" cy="44577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1224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countries have high population density despite smaller land area?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291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Visualization: Scatter Plot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INSIGHTS  —  POPULATION DENSITY VS. LAND AREA</a:t>
            </a:r>
            <a:endParaRPr lang="en-US" sz="1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53035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852160" y="8229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852160" y="118872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4"/>
          <p:cNvSpPr/>
          <p:nvPr/>
        </p:nvSpPr>
        <p:spPr>
          <a:xfrm>
            <a:off x="5852160" y="1389888"/>
            <a:ext cx="297180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52160" y="1389888"/>
            <a:ext cx="64008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6035040" y="1463040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&amp; Singapore have extreme density relative to land size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852160" y="2194560"/>
            <a:ext cx="297180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52160" y="2194560"/>
            <a:ext cx="64008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6035040" y="2267712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density intensifies urban pressure and housing challenges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862748" y="2953512"/>
            <a:ext cx="297180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52160" y="2999232"/>
            <a:ext cx="64008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6035040" y="3072384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and infrastructure management becomes critically important</a:t>
            </a:r>
            <a:endParaRPr lang="en-US" sz="9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15781D4-7EF0-2B49-5217-7B9E06CB92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138428"/>
            <a:ext cx="5248175" cy="37216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912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 4  OF  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164592" cy="44577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1224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countries are likely to contribute most to future population growth by 2025?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291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Visualization: Treemap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INSIGHTS  —  FUTURE POPULATION GROWTH DRIVERS</a:t>
            </a:r>
            <a:endParaRPr lang="en-US" sz="1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53035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852160" y="8229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852160" y="118872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4"/>
          <p:cNvSpPr/>
          <p:nvPr/>
        </p:nvSpPr>
        <p:spPr>
          <a:xfrm>
            <a:off x="5852160" y="1389888"/>
            <a:ext cx="297180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52160" y="1389888"/>
            <a:ext cx="64008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6035040" y="1463040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surpasses China as the world's most populous nation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852160" y="2194560"/>
            <a:ext cx="297180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52160" y="2194560"/>
            <a:ext cx="64008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6035040" y="2267712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&amp; Pakistan are among the fastest-growing large countries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852160" y="2999232"/>
            <a:ext cx="297180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52160" y="2999232"/>
            <a:ext cx="64008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6035040" y="3072384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Sub-Saharan Africa will drive the majority of 21st-century growth</a:t>
            </a:r>
            <a:endParaRPr lang="en-US" sz="9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CDD50A9-CDE8-92DC-994B-5A9674210D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12" y="1170431"/>
            <a:ext cx="5303520" cy="372160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912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 5  OF  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164592" cy="44577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1224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Q5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the trends in population growth between developed and developing countries?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291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Visualization: Line Chart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INSIGHTS  —  DEVELOPED VS. DEVELOPING GROWTH TRENDS</a:t>
            </a:r>
            <a:endParaRPr lang="en-US" sz="1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53035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852160" y="8229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852160" y="118872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4"/>
          <p:cNvSpPr/>
          <p:nvPr/>
        </p:nvSpPr>
        <p:spPr>
          <a:xfrm>
            <a:off x="5852160" y="1389888"/>
            <a:ext cx="297180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52160" y="1389888"/>
            <a:ext cx="64008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6035040" y="1463040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countries grow significantly faster than developed ones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852160" y="2194560"/>
            <a:ext cx="297180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52160" y="2194560"/>
            <a:ext cx="64008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6035040" y="2267712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nations show near-flat population curves post-2000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852160" y="2999232"/>
            <a:ext cx="297180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52160" y="2999232"/>
            <a:ext cx="64008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6035040" y="3072384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development strongly correlates with declining fertility</a:t>
            </a:r>
            <a:endParaRPr lang="en-US" sz="9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6B92501-9902-2EA0-720F-5EFAB7ACE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4" y="1100889"/>
            <a:ext cx="5511666" cy="379115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1554480" cy="192024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155448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05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8.1B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20848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Population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39112" y="868680"/>
            <a:ext cx="1554480" cy="192024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39112" y="868680"/>
            <a:ext cx="155448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2039112" y="1005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39112" y="1508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39112" y="20848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58184" y="868680"/>
            <a:ext cx="1554480" cy="192024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58184" y="868680"/>
            <a:ext cx="155448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3758184" y="1005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758184" y="1508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195+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758184" y="20848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77256" y="868680"/>
            <a:ext cx="1554480" cy="192024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77256" y="868680"/>
            <a:ext cx="155448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477256" y="1005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🧭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77256" y="1508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77256" y="20848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96328" y="868680"/>
            <a:ext cx="1554480" cy="192024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96328" y="868680"/>
            <a:ext cx="155448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7196328" y="1005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196328" y="1508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 Yrs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196328" y="20848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29718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Numbers Tell Us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65760" y="3319272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Shape 29"/>
          <p:cNvSpPr/>
          <p:nvPr/>
        </p:nvSpPr>
        <p:spPr>
          <a:xfrm>
            <a:off x="365760" y="3493008"/>
            <a:ext cx="54864" cy="3291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4930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8.1B global population confirms unparalleled scale of human growth by 2025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" y="3986784"/>
            <a:ext cx="54864" cy="3291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9867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195+ countries provide a truly comprehensive demographic picture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4480560"/>
            <a:ext cx="54864" cy="3291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4480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55-year span captures two full generations of demographic transformation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912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3977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05840"/>
            <a:ext cx="1920240" cy="640080"/>
          </a:xfrm>
          <a:prstGeom prst="rect">
            <a:avLst/>
          </a:prstGeom>
          <a:solidFill>
            <a:srgbClr val="12244D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Population: 8.1B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606040" y="1005840"/>
            <a:ext cx="1920240" cy="640080"/>
          </a:xfrm>
          <a:prstGeom prst="rect">
            <a:avLst/>
          </a:prstGeom>
          <a:solidFill>
            <a:srgbClr val="12244D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Rate: 1.1%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1920240" cy="640080"/>
          </a:xfrm>
          <a:prstGeom prst="rect">
            <a:avLst/>
          </a:prstGeom>
          <a:solidFill>
            <a:srgbClr val="12244D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Growth: India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812280" y="1005840"/>
            <a:ext cx="1920240" cy="640080"/>
          </a:xfrm>
          <a:prstGeom prst="rect">
            <a:avLst/>
          </a:prstGeom>
          <a:solidFill>
            <a:srgbClr val="12244D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Densest: Bangladesh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1783080"/>
            <a:ext cx="5029200" cy="2651760"/>
          </a:xfrm>
          <a:prstGeom prst="rect">
            <a:avLst/>
          </a:prstGeom>
          <a:solidFill>
            <a:srgbClr val="12244D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783080"/>
            <a:ext cx="50292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Population Growth Bar Chart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[Power BI Visual Placeholder]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0" y="1783080"/>
            <a:ext cx="3017520" cy="1234440"/>
          </a:xfrm>
          <a:prstGeom prst="rect">
            <a:avLst/>
          </a:prstGeom>
          <a:solidFill>
            <a:srgbClr val="12244D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1783080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Continental Area Chart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3154680"/>
            <a:ext cx="3017520" cy="1280160"/>
          </a:xfrm>
          <a:prstGeom prst="rect">
            <a:avLst/>
          </a:prstGeom>
          <a:solidFill>
            <a:srgbClr val="12244D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315468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Density Scatter Plot</a:t>
            </a:r>
            <a:endParaRPr lang="en-US" sz="1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8D17513-37BC-B3E7-BF8F-A9741F89A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708659"/>
            <a:ext cx="8553249" cy="409194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164592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508760"/>
            <a:ext cx="42062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08760"/>
            <a:ext cx="73152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21208" y="20574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Trends Identified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" y="2377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successfully highlights demographic trends, growth patterns, and regional shifts from 1970 to 2025.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508760"/>
            <a:ext cx="42062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508760"/>
            <a:ext cx="73152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956048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56048" y="20574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&amp; Africa Lead Growth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56048" y="2377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dominates in absolute numbers while Africa shows the fastest growth trajectory, shaping the future population landscape.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154680"/>
            <a:ext cx="42062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154680"/>
            <a:ext cx="73152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" y="3291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🏙️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21208" y="37033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&amp; Urban Pressure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" y="4023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Nations like Bangladesh and Singapore face critical urban and resource challenges due to extreme population density.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3154680"/>
            <a:ext cx="42062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154680"/>
            <a:ext cx="73152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4956048" y="3291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🔮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956048" y="37033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Projections Clear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56048" y="4023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, China, Nigeria, and Pakistan will drive future global population growth, making them key focus areas for policy and planning.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9122B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12244D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12244D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3200400" y="2514600"/>
            <a:ext cx="2743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Population Dashboard  |  1970–2025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Kaggle World Population Dataset  |  Tools: Power BI, Power Query, DAX</a:t>
            </a:r>
            <a:endParaRPr lang="en-US" sz="9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55</TotalTime>
  <Words>884</Words>
  <Application>Microsoft Office PowerPoint</Application>
  <PresentationFormat>On-screen Show (16:9)</PresentationFormat>
  <Paragraphs>200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Calisto MT</vt:lpstr>
      <vt:lpstr>Georgia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Population Dashboard</dc:title>
  <dc:subject>PptxGenJS Presentation</dc:subject>
  <dc:creator>Jerry James</dc:creator>
  <cp:lastModifiedBy>jerry james</cp:lastModifiedBy>
  <cp:revision>4</cp:revision>
  <dcterms:created xsi:type="dcterms:W3CDTF">2026-05-15T17:01:34Z</dcterms:created>
  <dcterms:modified xsi:type="dcterms:W3CDTF">2026-05-16T04:41:28Z</dcterms:modified>
</cp:coreProperties>
</file>